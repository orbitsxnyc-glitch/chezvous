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IMMOBILIER SÉNÉGAL  ·  CONCEPT PRODUIT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6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6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89720" y="146304"/>
            <a:ext cx="2788920" cy="2788920"/>
          </a:xfrm>
          <a:prstGeom prst="ellipse">
            <a:avLst/>
          </a:prstGeom>
          <a:solidFill>
            <a:srgbClr val="113E3F">
              <a:alpha val="90000"/>
            </a:srgbClr>
          </a:solidFill>
          <a:ln w="12700">
            <a:solidFill>
              <a:srgbClr val="113E3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4187952"/>
            <a:ext cx="2148840" cy="2148840"/>
          </a:xfrm>
          <a:prstGeom prst="ellipse">
            <a:avLst/>
          </a:prstGeom>
          <a:solidFill>
            <a:srgbClr val="159A7D">
              <a:alpha val="65000"/>
            </a:srgbClr>
          </a:solidFill>
          <a:ln w="12700">
            <a:solidFill>
              <a:srgbClr val="159A7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6200000">
            <a:off x="594360" y="658368"/>
            <a:ext cx="566928" cy="294803"/>
          </a:xfrm>
          <a:prstGeom prst="chevron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2391" y="828446"/>
            <a:ext cx="430865" cy="351495"/>
          </a:xfrm>
          <a:prstGeom prst="rect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3808" y="964509"/>
            <a:ext cx="102047" cy="215433"/>
          </a:xfrm>
          <a:prstGeom prst="rect">
            <a:avLst/>
          </a:prstGeom>
          <a:solidFill>
            <a:srgbClr val="F5F2EA"/>
          </a:solidFill>
          <a:ln w="12700">
            <a:solidFill>
              <a:srgbClr val="F5F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71323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IMMOBILIER SÉNÉGAL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1508760"/>
            <a:ext cx="6675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plateforme de confiance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 trouver, vérifier et visiter.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640080" y="327355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8D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produit · Modèle économique · MVP · Technologie · Go-to-market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2148840" cy="310896"/>
          </a:xfrm>
          <a:prstGeom prst="roundRect">
            <a:avLst/>
          </a:prstGeom>
          <a:solidFill>
            <a:srgbClr val="1A4445"/>
          </a:solidFill>
          <a:ln w="12700">
            <a:solidFill>
              <a:srgbClr val="1A44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4005072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 DE MARQUE À DÉFINIR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43800" y="1143000"/>
            <a:ext cx="3931920" cy="4206240"/>
          </a:xfrm>
          <a:prstGeom prst="roundRect">
            <a:avLst>
              <a:gd name="adj" fmla="val 4651"/>
            </a:avLst>
          </a:prstGeom>
          <a:solidFill>
            <a:srgbClr val="F8F7F2"/>
          </a:solidFill>
          <a:ln w="10160">
            <a:solidFill>
              <a:srgbClr val="F8F7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1481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PASSEPORT DU BIEN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76688" y="14813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DK-YOF-002458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0956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Appartement F4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909560" y="22219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Yoff Virage · 145 m²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09560" y="26974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450 000 FCFA / mois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909560" y="3172968"/>
            <a:ext cx="2148840" cy="310896"/>
          </a:xfrm>
          <a:prstGeom prst="roundRect">
            <a:avLst/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82712" y="3200400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DISPONIBLE AUJOURD’HUI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55280" y="3712464"/>
            <a:ext cx="100584" cy="100584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6448" y="363931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Identité annonceur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02368" y="36393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Vérifiée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55280" y="4059936"/>
            <a:ext cx="100584" cy="100584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56448" y="398678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Localisation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802368" y="39867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Vérifiée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55280" y="4407408"/>
            <a:ext cx="100584" cy="100584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56448" y="433425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Visite terrain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802368" y="43342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Effectuée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955280" y="4754880"/>
            <a:ext cx="100584" cy="100584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56448" y="468172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Dernière confirmation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802368" y="46817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09:42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62636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FC1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Odace Studio · Présentation stratégique · Septembre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6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RÉSUMÉ EXÉCUTIF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Construire plus qu’un portail d’annonces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441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produit hybride : marketplace B2C + moteur de confiance + SaaS B2B pour les professionnels.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2039112"/>
            <a:ext cx="2542032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2258568"/>
            <a:ext cx="438912" cy="438912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258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" y="28529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Trouver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3273552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Recherche locale, carte, filtres, alertes et favoris.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47288" y="2039112"/>
            <a:ext cx="2542032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48456" y="2258568"/>
            <a:ext cx="438912" cy="438912"/>
          </a:xfrm>
          <a:prstGeom prst="ellipse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48456" y="2258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48456" y="28529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48456" y="3273552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Passeport du Bien, identité, documents, localisation et fraîcheur.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0216" y="2039112"/>
            <a:ext cx="2542032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01384" y="2258568"/>
            <a:ext cx="438912" cy="438912"/>
          </a:xfrm>
          <a:prstGeom prst="ellipse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1384" y="2258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01384" y="28529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01384" y="3273552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Créneaux, confirmation, rappels et suivi après visite.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53144" y="2039112"/>
            <a:ext cx="2542032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54312" y="2258568"/>
            <a:ext cx="438912" cy="438912"/>
          </a:xfrm>
          <a:prstGeom prst="ellipse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54312" y="2258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54312" y="28529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Gérer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54312" y="3273552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CRM, portefeuille, leads, agents et statistiques pour les agences.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4754880"/>
            <a:ext cx="11018520" cy="1143000"/>
          </a:xfrm>
          <a:prstGeom prst="roundRect">
            <a:avLst>
              <a:gd name="adj" fmla="val 12800"/>
            </a:avLst>
          </a:prstGeom>
          <a:solidFill>
            <a:srgbClr val="E8F3E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0109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Principe directeur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23160" y="49103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Mieux vaut 500 biens réellement actifs et fiables que 20 000 annonces obsolètes.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6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MARCHÉ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Dakar est le point d’entrée naturel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441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location est suffisamment importante pour justifier un lancement hyper-ciblé avant toute extension nationale.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3657600" cy="3017520"/>
          </a:xfrm>
          <a:prstGeom prst="roundRect">
            <a:avLst/>
          </a:prstGeom>
          <a:solidFill>
            <a:srgbClr val="0D2B2E"/>
          </a:solidFill>
          <a:ln w="10160">
            <a:solidFill>
              <a:srgbClr val="0D2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23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59,7 %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05840" y="32918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E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 ménages du département de Dakar sont locataires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43159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8BC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RGPH-5 · résultats régionaux Dakar · avril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26280" y="2011680"/>
            <a:ext cx="7086600" cy="3017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Implication produit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2907792"/>
            <a:ext cx="100584" cy="100584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2816352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Commencer par la location résidentielle, pas par tous les segments.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3392424"/>
            <a:ext cx="100584" cy="100584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3300984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Concentrer l’inventaire sur des quartiers à forte demande avant d’élargir.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3877056"/>
            <a:ext cx="100584" cy="100584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3785616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Optimiser l’expérience mobile et le contact instantané.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4361688"/>
            <a:ext cx="100584" cy="100584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4270248"/>
            <a:ext cx="5897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Faire de la disponibilité et de la visite les métriques centrales du produit.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0" y="6437376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: ANSD — RGPH-5, Rapport régional Dakar, avril 2026.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6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CONCURRENCE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marché n’est pas vide — la différenciation doit être plus profonde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441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Plusieurs acteurs couvrent déjà annonces, agences vérifiées, réservations ou contrôle documentaire.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364992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86000"/>
            <a:ext cx="1600200" cy="310896"/>
          </a:xfrm>
          <a:prstGeom prst="roundRect">
            <a:avLst/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313432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PORTAIL IMMOBILIER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8163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KEUR-IMMO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331012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165 agences inscrites ; agences vérifiées.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2057400"/>
            <a:ext cx="3364992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286000"/>
            <a:ext cx="1600200" cy="310896"/>
          </a:xfrm>
          <a:prstGeom prst="roundRect">
            <a:avLst/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2313432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 PRO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26280" y="28163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SENHUB IMMO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26280" y="331012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Annonces, agenda, réservation et rendez-vous.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01000" y="2057400"/>
            <a:ext cx="3364992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2286000"/>
            <a:ext cx="1600200" cy="310896"/>
          </a:xfrm>
          <a:prstGeom prst="roundRect">
            <a:avLst/>
          </a:prstGeom>
          <a:solidFill>
            <a:srgbClr val="F4EEDC"/>
          </a:solidFill>
          <a:ln w="12700">
            <a:solidFill>
              <a:srgbClr val="F4EE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2313432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A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CONFIANCE &amp; SERVICES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28163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IMMOKA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229600" y="331012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Badge vérifié, documents contrôlés et services connexes.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4736592"/>
            <a:ext cx="10954512" cy="1051560"/>
          </a:xfrm>
          <a:prstGeom prst="roundRect">
            <a:avLst>
              <a:gd name="adj" fmla="val 13913"/>
            </a:avLst>
          </a:prstGeom>
          <a:solidFill>
            <a:srgbClr val="0D2B2E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9926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 stratégique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88920" y="4882896"/>
            <a:ext cx="8183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“Annonces + badge vérifié” n’est plus suffisant. Le produit doit maîtriser l’identité du bien et la fraîcheur de sa disponibilité.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0" y="6437376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3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: Keur-Immo, SenHub Immo, Immoka — sites consultés en septembre 2026.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6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PROBLÈMES À RÉSOUDRE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Cinq frictions qui détruisent la confiance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441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produit doit éliminer ces frictions plutôt que simplement ajouter une nouvelle vitrine d’annonces.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069848" y="2633472"/>
            <a:ext cx="9966960" cy="0"/>
          </a:xfrm>
          <a:prstGeom prst="line">
            <a:avLst/>
          </a:prstGeom>
          <a:noFill/>
          <a:ln w="8890">
            <a:solidFill>
              <a:srgbClr val="D8D5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01168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0116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Annonces obsolètes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703320" y="201168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bien peut rester affiché alors qu’il est déjà loué.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69848" y="3429000"/>
            <a:ext cx="9966960" cy="0"/>
          </a:xfrm>
          <a:prstGeom prst="line">
            <a:avLst/>
          </a:prstGeom>
          <a:noFill/>
          <a:ln w="8890">
            <a:solidFill>
              <a:srgbClr val="D8D5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80720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28072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Doublons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03320" y="280720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même logement peut être publié plusieurs fois à des prix différents.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69848" y="4224528"/>
            <a:ext cx="9966960" cy="0"/>
          </a:xfrm>
          <a:prstGeom prst="line">
            <a:avLst/>
          </a:prstGeom>
          <a:noFill/>
          <a:ln w="8890">
            <a:solidFill>
              <a:srgbClr val="D8D5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602736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36027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03320" y="360273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Difficile de savoir qui est propriétaire, mandataire ou intermédiaire.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69848" y="5020056"/>
            <a:ext cx="9966960" cy="0"/>
          </a:xfrm>
          <a:prstGeom prst="line">
            <a:avLst/>
          </a:prstGeom>
          <a:noFill/>
          <a:ln w="8890">
            <a:solidFill>
              <a:srgbClr val="D8D5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398264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439826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Frais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03320" y="439826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coût réel d’entrée est rarement visible immédiatement.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69848" y="5815584"/>
            <a:ext cx="9966960" cy="0"/>
          </a:xfrm>
          <a:prstGeom prst="line">
            <a:avLst/>
          </a:prstGeom>
          <a:noFill/>
          <a:ln w="8890">
            <a:solidFill>
              <a:srgbClr val="D8D5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519379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519379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03320" y="519379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Rendez-vous et disponibilités sont encore largement gérés manuellement.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6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VISION PRODUIT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plateforme de confiance de l’immobilier sénégalais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441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bien possède une identité, une disponibilité datée et un historique de contrôle.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187452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743200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CHERCHEUR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3136392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Recherche &amp; visite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3127248"/>
            <a:ext cx="128016" cy="0"/>
          </a:xfrm>
          <a:prstGeom prst="line">
            <a:avLst/>
          </a:prstGeom>
          <a:noFill/>
          <a:ln w="22860">
            <a:solidFill>
              <a:srgbClr val="159A7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52928" y="2423160"/>
            <a:ext cx="187452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62656" y="2743200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62656" y="3136392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Découverte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73168" y="3127248"/>
            <a:ext cx="128016" cy="0"/>
          </a:xfrm>
          <a:prstGeom prst="line">
            <a:avLst/>
          </a:prstGeom>
          <a:noFill/>
          <a:ln w="22860">
            <a:solidFill>
              <a:srgbClr val="159A7D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974336" y="2423160"/>
            <a:ext cx="1874520" cy="1417320"/>
          </a:xfrm>
          <a:prstGeom prst="roundRect">
            <a:avLst>
              <a:gd name="adj" fmla="val 10323"/>
            </a:avLst>
          </a:prstGeom>
          <a:solidFill>
            <a:srgbClr val="DDF1EA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84064" y="2743200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PASSEPORT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84064" y="3136392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Identité du bien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94576" y="3127248"/>
            <a:ext cx="128016" cy="0"/>
          </a:xfrm>
          <a:prstGeom prst="line">
            <a:avLst/>
          </a:prstGeom>
          <a:noFill/>
          <a:ln w="22860">
            <a:solidFill>
              <a:srgbClr val="159A7D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095744" y="2423160"/>
            <a:ext cx="187452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05472" y="2743200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05472" y="3136392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Vérification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15984" y="3127248"/>
            <a:ext cx="128016" cy="0"/>
          </a:xfrm>
          <a:prstGeom prst="line">
            <a:avLst/>
          </a:prstGeom>
          <a:noFill/>
          <a:ln w="22860">
            <a:solidFill>
              <a:srgbClr val="159A7D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217152" y="2423160"/>
            <a:ext cx="187452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2743200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26880" y="3136392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&amp; portefeuille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74520" y="4709160"/>
            <a:ext cx="8412480" cy="914400"/>
          </a:xfrm>
          <a:prstGeom prst="roundRect">
            <a:avLst>
              <a:gd name="adj" fmla="val 16000"/>
            </a:avLst>
          </a:prstGeom>
          <a:solidFill>
            <a:srgbClr val="0D2B2E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40280" y="48920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Trouvez. Vérifiez. Visitez.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6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Trois couches, un seul produit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441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valeur vient de la combinaison de la marketplace, de la couche de confiance et du SaaS professionnel.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10652760" cy="1115568"/>
          </a:xfrm>
          <a:prstGeom prst="roundRect">
            <a:avLst>
              <a:gd name="adj" fmla="val 13115"/>
            </a:avLst>
          </a:prstGeom>
          <a:solidFill>
            <a:srgbClr val="EAF4F0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1945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COUCHE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40280" y="213055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 B2C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257800" y="213055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Recherche · carte · filtres · favoris · alertes · contact · visites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246120"/>
            <a:ext cx="10652760" cy="1115568"/>
          </a:xfrm>
          <a:prstGeom prst="roundRect">
            <a:avLst>
              <a:gd name="adj" fmla="val 13115"/>
            </a:avLst>
          </a:prstGeom>
          <a:solidFill>
            <a:srgbClr val="DDF1EA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4747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COUCHE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40280" y="341071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Moteur de confiance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57800" y="341071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Passeport · identité · documents · fraîcheur · doublons · signalements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4526280"/>
            <a:ext cx="10652760" cy="1115568"/>
          </a:xfrm>
          <a:prstGeom prst="roundRect">
            <a:avLst>
              <a:gd name="adj" fmla="val 13115"/>
            </a:avLst>
          </a:prstGeom>
          <a:solidFill>
            <a:srgbClr val="0D2B2E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7548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COUCHE 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40280" y="469087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SaaS B2B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57800" y="469087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FDE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Portefeuille · leads · CRM · agenda · équipe · analytics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6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FONCTION SIGNATURE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Passeport du Bien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441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L’annonce devient secondaire : le vrai actif numérique est la fiche d’identité persistante du logement.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901952"/>
            <a:ext cx="4983480" cy="3794760"/>
          </a:xfrm>
          <a:prstGeom prst="roundRect">
            <a:avLst>
              <a:gd name="adj" fmla="val 3855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762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PASSEPORT DU BIEN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60520" y="21762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DK-YOF-002458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5786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Appartement F4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926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Yoff Virage · 145 m² · 3 chambres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33649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450 000 FCFA / mois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60120" y="3822192"/>
            <a:ext cx="1664208" cy="310896"/>
          </a:xfrm>
          <a:prstGeom prst="roundRect">
            <a:avLst/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3849624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DISPONIBLE · 09:42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87552" y="4407408"/>
            <a:ext cx="91440" cy="91440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4325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Identité annonceur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67328" y="43251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Vérifiée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87552" y="4718304"/>
            <a:ext cx="91440" cy="91440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46360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Localisation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67328" y="46360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Vérifiée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87552" y="5029200"/>
            <a:ext cx="91440" cy="91440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70432" y="49469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Mandat / document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67328" y="49469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Contrôlé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87552" y="5340096"/>
            <a:ext cx="91440" cy="91440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0432" y="5257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Visite terrain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67328" y="5257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Effectuée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1993392"/>
            <a:ext cx="502920" cy="310896"/>
          </a:xfrm>
          <a:prstGeom prst="roundRect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53912" y="2020824"/>
            <a:ext cx="356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84848" y="197510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Identité unique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84848" y="235915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bien peut exister une seule fois dans le système, même s’il a plusieurs annonceurs.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80760" y="3163824"/>
            <a:ext cx="502920" cy="310896"/>
          </a:xfrm>
          <a:prstGeom prst="roundRect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53912" y="3191256"/>
            <a:ext cx="356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84848" y="314553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Historique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84848" y="352958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confirmation, vérification, modification et signalement est horodaté.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080760" y="4334256"/>
            <a:ext cx="502920" cy="310896"/>
          </a:xfrm>
          <a:prstGeom prst="roundRect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53912" y="4361688"/>
            <a:ext cx="356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84848" y="43159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Interopérabilité future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84848" y="470001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Passeport peut ensuite accueillir gestion locative, services et documents sécurisés.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6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FRAÎCHEUR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disponibilité devient une donnée vivante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441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 une information vieillit, moins elle est mise en avant.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2423160"/>
            <a:ext cx="278892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2715768"/>
            <a:ext cx="219456" cy="219456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6151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41832" y="321868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Confirmé il y a 2 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1832" y="376732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Priorité élevée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2423160"/>
            <a:ext cx="278892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6552" y="2715768"/>
            <a:ext cx="219456" cy="219456"/>
          </a:xfrm>
          <a:prstGeom prst="ellipse">
            <a:avLst/>
          </a:prstGeom>
          <a:solidFill>
            <a:srgbClr val="E2A83B"/>
          </a:solidFill>
          <a:ln w="12700">
            <a:solidFill>
              <a:srgbClr val="E2A8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6151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RECONFIRMER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16552" y="321868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Confirmé il y a 2 jours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16552" y="376732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A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Visibilité réduite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35240" y="2423160"/>
            <a:ext cx="278892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91272" y="2715768"/>
            <a:ext cx="219456" cy="219456"/>
          </a:xfrm>
          <a:prstGeom prst="ellipse">
            <a:avLst/>
          </a:prstGeom>
          <a:solidFill>
            <a:srgbClr val="A6AAA5"/>
          </a:solidFill>
          <a:ln w="12700">
            <a:solidFill>
              <a:srgbClr val="A6AA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6151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ANCIENNE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91272" y="321868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Aucune réponse récente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91272" y="376732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6AA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Masqué / à vérifier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" y="50749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Automatisation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11680" y="4956048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 → Oui / Réservé / Loué / Retiré → mise à jour instantanée du Passeport et du classement.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6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· ANTI-DOUBLONS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même logement, plusieurs annonces — une seule vérité produit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441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système regroupe progressivement les annonces qui semblent décrire le même bien.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2487168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6060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PROPRIÉTAIRE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6968" y="299923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400 000 FCFA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6968" y="343814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Aujourd’hui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20440" y="2331720"/>
            <a:ext cx="2487168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21608" y="26060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AGENCE 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21608" y="299923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425 000 FCFA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21608" y="343814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Aujourd’hui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55080" y="2331720"/>
            <a:ext cx="2487168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26060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AGENCE 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56248" y="299923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450 000 FCFA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56248" y="343814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y a 5 j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61120" y="3273552"/>
            <a:ext cx="1234440" cy="0"/>
          </a:xfrm>
          <a:prstGeom prst="line">
            <a:avLst/>
          </a:prstGeom>
          <a:noFill/>
          <a:ln w="22860">
            <a:solidFill>
              <a:srgbClr val="159A7D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89720" y="2121408"/>
            <a:ext cx="2148840" cy="2331720"/>
          </a:xfrm>
          <a:prstGeom prst="roundRect">
            <a:avLst>
              <a:gd name="adj" fmla="val 6809"/>
            </a:avLst>
          </a:prstGeom>
          <a:solidFill>
            <a:srgbClr val="0D2B2E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0" y="2514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96 %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464040" y="312724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D9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CORRESPONDANCE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9D9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" y="4800600"/>
            <a:ext cx="10652760" cy="868680"/>
          </a:xfrm>
          <a:prstGeom prst="roundRect">
            <a:avLst>
              <a:gd name="adj" fmla="val 16842"/>
            </a:avLst>
          </a:prstGeom>
          <a:solidFill>
            <a:srgbClr val="DDF1EA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010912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Signaux utilisés : photos · GPS · superficie · pièces · résidence · prix · texte · téléphone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6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· PARCOURS CLIENT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la recherche à la visite en quelques étapes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441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parcours est pensé pour réduire les appels inutiles et les logements déjà pris.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96696" y="2331720"/>
            <a:ext cx="530352" cy="530352"/>
          </a:xfrm>
          <a:prstGeom prst="ellipse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" y="23317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0" y="2596896"/>
            <a:ext cx="548640" cy="0"/>
          </a:xfrm>
          <a:prstGeom prst="line">
            <a:avLst/>
          </a:prstGeom>
          <a:noFill/>
          <a:ln w="22860">
            <a:solidFill>
              <a:srgbClr val="D8D5CC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40080" y="31546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Recherche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" y="3538728"/>
            <a:ext cx="15727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Quartier · budget · type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98648" y="2331720"/>
            <a:ext cx="530352" cy="530352"/>
          </a:xfrm>
          <a:prstGeom prst="ellipse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98648" y="23317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47872" y="2596896"/>
            <a:ext cx="548640" cy="0"/>
          </a:xfrm>
          <a:prstGeom prst="line">
            <a:avLst/>
          </a:prstGeom>
          <a:noFill/>
          <a:ln w="22860">
            <a:solidFill>
              <a:srgbClr val="D8D5CC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542032" y="31546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23160" y="3538728"/>
            <a:ext cx="15727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Carte · fiche · frais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2331720"/>
            <a:ext cx="530352" cy="530352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3317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49824" y="2596896"/>
            <a:ext cx="548640" cy="0"/>
          </a:xfrm>
          <a:prstGeom prst="line">
            <a:avLst/>
          </a:prstGeom>
          <a:noFill/>
          <a:ln w="22860">
            <a:solidFill>
              <a:srgbClr val="D8D5CC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443984" y="31546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25112" y="3538728"/>
            <a:ext cx="15727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Passeport · fraîcheur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02552" y="2331720"/>
            <a:ext cx="530352" cy="530352"/>
          </a:xfrm>
          <a:prstGeom prst="ellipse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2552" y="23317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51776" y="2596896"/>
            <a:ext cx="548640" cy="0"/>
          </a:xfrm>
          <a:prstGeom prst="line">
            <a:avLst/>
          </a:prstGeom>
          <a:noFill/>
          <a:ln w="22860">
            <a:solidFill>
              <a:srgbClr val="D8D5CC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345936" y="31546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Réserve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27064" y="3538728"/>
            <a:ext cx="15727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Créneau de visite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604504" y="2331720"/>
            <a:ext cx="530352" cy="530352"/>
          </a:xfrm>
          <a:prstGeom prst="ellipse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04504" y="23317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253728" y="2596896"/>
            <a:ext cx="548640" cy="0"/>
          </a:xfrm>
          <a:prstGeom prst="line">
            <a:avLst/>
          </a:prstGeom>
          <a:noFill/>
          <a:ln w="22860">
            <a:solidFill>
              <a:srgbClr val="D8D5CC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247888" y="31546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29016" y="3538728"/>
            <a:ext cx="15727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Rappel · itinéraire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506456" y="2331720"/>
            <a:ext cx="530352" cy="530352"/>
          </a:xfrm>
          <a:prstGeom prst="ellipse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06456" y="23317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149840" y="31546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Évalue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030968" y="3538728"/>
            <a:ext cx="15727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Conforme ? disponible 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97280" y="4754880"/>
            <a:ext cx="9966960" cy="868680"/>
          </a:xfrm>
          <a:prstGeom prst="roundRect">
            <a:avLst>
              <a:gd name="adj" fmla="val 16842"/>
            </a:avLst>
          </a:prstGeom>
          <a:solidFill>
            <a:srgbClr val="0D2B2E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08760" y="4983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étape alimente la donnée : clics, favoris, visites, disponibilité et qualité de l’annonce.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6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· EXPÉRIENCE LOCALE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Chercher comme on cherche réellement à Dakar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441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géolocalisation doit accepter les quartiers, repères, axes et temps de trajet — pas uniquement des adresses formelles.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2926080" cy="4297680"/>
          </a:xfrm>
          <a:prstGeom prst="roundRect">
            <a:avLst/>
          </a:prstGeom>
          <a:solidFill>
            <a:srgbClr val="11191A"/>
          </a:solidFill>
          <a:ln w="12700">
            <a:solidFill>
              <a:srgbClr val="1119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1929384"/>
            <a:ext cx="2761488" cy="4096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30629" y="1892808"/>
            <a:ext cx="819302" cy="73152"/>
          </a:xfrm>
          <a:prstGeom prst="roundRect">
            <a:avLst/>
          </a:prstGeom>
          <a:solidFill>
            <a:srgbClr val="11191A"/>
          </a:solidFill>
          <a:ln w="12700">
            <a:solidFill>
              <a:srgbClr val="1119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2860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Où cherchez-vous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" y="2761488"/>
            <a:ext cx="2359152" cy="530352"/>
          </a:xfrm>
          <a:prstGeom prst="roundRect">
            <a:avLst>
              <a:gd name="adj" fmla="val 27586"/>
            </a:avLst>
          </a:prstGeom>
          <a:solidFill>
            <a:srgbClr val="F0F2EE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28712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Yoff, VDN, près du BRT…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78992" y="3538728"/>
            <a:ext cx="658368" cy="310896"/>
          </a:xfrm>
          <a:prstGeom prst="roundRect">
            <a:avLst/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2144" y="35661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YOFF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538728"/>
            <a:ext cx="868680" cy="310896"/>
          </a:xfrm>
          <a:prstGeom prst="roundRect">
            <a:avLst/>
          </a:prstGeom>
          <a:solidFill>
            <a:srgbClr val="EDF0EC"/>
          </a:solidFill>
          <a:ln w="12700">
            <a:solidFill>
              <a:srgbClr val="EDF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83664" y="3566160"/>
            <a:ext cx="722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OUAKAM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0" y="3538728"/>
            <a:ext cx="777240" cy="310896"/>
          </a:xfrm>
          <a:prstGeom prst="roundRect">
            <a:avLst/>
          </a:prstGeom>
          <a:solidFill>
            <a:srgbClr val="EDF0EC"/>
          </a:solidFill>
          <a:ln w="12700">
            <a:solidFill>
              <a:srgbClr val="EDF0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16352" y="3566160"/>
            <a:ext cx="630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MAMELLES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8992" y="4160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48256" y="41605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300k — 450k FCFA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992" y="46451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F3 / F4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46451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Parking · Meublé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8992" y="5248656"/>
            <a:ext cx="2194560" cy="310896"/>
          </a:xfrm>
          <a:prstGeom prst="roundRect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52144" y="527608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VOIR 42 BIENS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Recherche contextuelle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572000" y="2743200"/>
            <a:ext cx="6035040" cy="457200"/>
          </a:xfrm>
          <a:prstGeom prst="roundRect">
            <a:avLst>
              <a:gd name="adj" fmla="val 32000"/>
            </a:avLst>
          </a:prstGeom>
          <a:solidFill>
            <a:srgbClr val="DDF1EA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281635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“À 15 min des Almadies”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0" y="3364992"/>
            <a:ext cx="6035040" cy="457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43814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“Près de l’UCAD”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0" y="3986784"/>
            <a:ext cx="6035040" cy="457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405993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“Yoff BCEAO / Virage”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0" y="4608576"/>
            <a:ext cx="6035040" cy="457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468172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“Autour du BRT”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0" y="5440680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 : une expérience plus proche des habitudes locales et beaucoup moins dépendante d’adresses normalisées.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6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· TRANSPARENCE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Afficher le coût réel d’entrée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441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prix mensuel ne suffit pas : l’utilisateur doit comprendre immédiatement le montant à prévoir.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2084832"/>
            <a:ext cx="4754880" cy="34747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3957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F4 · Sacré-Cœur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7552" y="277977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400 000 FCFA / mois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3310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1er loyer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84448" y="33101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400 000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84448" y="37490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renseignée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4187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Commission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84448" y="41879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renseignée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87552" y="4626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Autres frais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84448" y="46268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renseignés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87552" y="5138928"/>
            <a:ext cx="3840480" cy="0"/>
          </a:xfrm>
          <a:prstGeom prst="line">
            <a:avLst/>
          </a:prstGeom>
          <a:noFill/>
          <a:ln w="12700">
            <a:solidFill>
              <a:srgbClr val="D8D5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52486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À PRÉVOIR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52486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 automatique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0760" y="2331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80760" y="27432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Aucun frais surprise.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080760" y="3456432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règles légales applicables doivent être validées avant automatisation. La plateforme affiche les montants renseignés et leurs règles de calcul sans présenter un contrôle comme une garantie juridique absolue.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6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· VISITES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un contact en rendez-vous traçable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441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créneaux permettent de réduire les échanges dispersés et d’actualiser automatiquement le statut du bien.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2743200" cy="4297680"/>
          </a:xfrm>
          <a:prstGeom prst="roundRect">
            <a:avLst/>
          </a:prstGeom>
          <a:solidFill>
            <a:srgbClr val="11191A"/>
          </a:solidFill>
          <a:ln w="12700">
            <a:solidFill>
              <a:srgbClr val="1119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" y="1929384"/>
            <a:ext cx="2578608" cy="4096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10512" y="1892808"/>
            <a:ext cx="768096" cy="73152"/>
          </a:xfrm>
          <a:prstGeom prst="roundRect">
            <a:avLst/>
          </a:prstGeom>
          <a:solidFill>
            <a:srgbClr val="11191A"/>
          </a:solidFill>
          <a:ln w="12700">
            <a:solidFill>
              <a:srgbClr val="1119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3856" y="23042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Visiter ce bien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33856" y="2852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Aujourd’hui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33856" y="3246120"/>
            <a:ext cx="713232" cy="310896"/>
          </a:xfrm>
          <a:prstGeom prst="roundRect">
            <a:avLst/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327355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17:00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47672" y="3246120"/>
            <a:ext cx="749808" cy="310896"/>
          </a:xfrm>
          <a:prstGeom prst="roundRect">
            <a:avLst/>
          </a:prstGeom>
          <a:solidFill>
            <a:srgbClr val="EDF0EC"/>
          </a:solidFill>
          <a:ln w="12700">
            <a:solidFill>
              <a:srgbClr val="EDF0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20824" y="3273552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18:30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33856" y="4261104"/>
            <a:ext cx="713232" cy="310896"/>
          </a:xfrm>
          <a:prstGeom prst="roundRect">
            <a:avLst/>
          </a:prstGeom>
          <a:solidFill>
            <a:srgbClr val="EDF0EC"/>
          </a:solidFill>
          <a:ln w="12700">
            <a:solidFill>
              <a:srgbClr val="EDF0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428853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47672" y="4261104"/>
            <a:ext cx="749808" cy="310896"/>
          </a:xfrm>
          <a:prstGeom prst="roundRect">
            <a:avLst/>
          </a:prstGeom>
          <a:solidFill>
            <a:srgbClr val="EDF0EC"/>
          </a:solidFill>
          <a:ln w="12700">
            <a:solidFill>
              <a:srgbClr val="EDF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20824" y="4288536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12:00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61488" y="4261104"/>
            <a:ext cx="566928" cy="310896"/>
          </a:xfrm>
          <a:prstGeom prst="roundRect">
            <a:avLst/>
          </a:prstGeom>
          <a:solidFill>
            <a:srgbClr val="EDF0EC"/>
          </a:solidFill>
          <a:ln w="12700">
            <a:solidFill>
              <a:srgbClr val="EDF0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4288536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16:00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33856" y="5074920"/>
            <a:ext cx="2103120" cy="310896"/>
          </a:xfrm>
          <a:prstGeom prst="roundRect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07008" y="5102352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CONFIRMER LA VISITE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34840" y="2240280"/>
            <a:ext cx="384048" cy="310896"/>
          </a:xfrm>
          <a:prstGeom prst="roundRect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07992" y="22677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74920" y="2221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Réservation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40880" y="2221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Créneau choisi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34840" y="3063240"/>
            <a:ext cx="384048" cy="310896"/>
          </a:xfrm>
          <a:prstGeom prst="roundRect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07992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74920" y="3044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40880" y="3044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accepte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434840" y="3886200"/>
            <a:ext cx="384048" cy="310896"/>
          </a:xfrm>
          <a:prstGeom prst="roundRect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07992" y="3913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74920" y="3867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Rappel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40880" y="3867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 + itinéraire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434840" y="4709160"/>
            <a:ext cx="384048" cy="310896"/>
          </a:xfrm>
          <a:prstGeom prst="roundRect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07992" y="4736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74920" y="4690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Après visite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040880" y="46908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Disponible ? conforme 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6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· PRODUIT PROFESSIONNEL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vrai moteur B2B : un mini-CRM immobilier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441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L’agence ne vient plus uniquement publier une annonce ; elle gère son activité.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812280" cy="3840480"/>
          </a:xfrm>
          <a:prstGeom prst="roundRect">
            <a:avLst>
              <a:gd name="adj" fmla="val 3810"/>
            </a:avLst>
          </a:prstGeom>
          <a:solidFill>
            <a:srgbClr val="FAFAF7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48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TABLEAU DE BORD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24871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Agence Diallo Immobilier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60120" y="2971800"/>
            <a:ext cx="1298448" cy="987552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315468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9848" y="35021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Biens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2971800"/>
            <a:ext cx="1298448" cy="987552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315468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60320" y="35021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Disponibles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41064" y="2971800"/>
            <a:ext cx="1298448" cy="987552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50792" y="315468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50792" y="35021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31536" y="2971800"/>
            <a:ext cx="1298448" cy="987552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41264" y="315468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41264" y="35021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" y="4343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leads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475488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Nouveaux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124712" y="5102352"/>
            <a:ext cx="621792" cy="475488"/>
          </a:xfrm>
          <a:prstGeom prst="rect">
            <a:avLst/>
          </a:prstGeom>
          <a:solidFill>
            <a:srgbClr val="0D2B2E">
              <a:alpha val="88000"/>
            </a:srgbClr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93976" y="475488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Contactés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58568" y="5102352"/>
            <a:ext cx="621792" cy="356616"/>
          </a:xfrm>
          <a:prstGeom prst="rect">
            <a:avLst/>
          </a:prstGeom>
          <a:solidFill>
            <a:srgbClr val="0D2B2E">
              <a:alpha val="88000"/>
            </a:srgbClr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27832" y="475488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92424" y="5102352"/>
            <a:ext cx="621792" cy="237744"/>
          </a:xfrm>
          <a:prstGeom prst="rect">
            <a:avLst/>
          </a:prstGeom>
          <a:solidFill>
            <a:srgbClr val="0D2B2E">
              <a:alpha val="88000"/>
            </a:srgbClr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61688" y="475488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Négociation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26280" y="5102352"/>
            <a:ext cx="621792" cy="138684"/>
          </a:xfrm>
          <a:prstGeom prst="rect">
            <a:avLst/>
          </a:prstGeom>
          <a:solidFill>
            <a:srgbClr val="0D2B2E">
              <a:alpha val="88000"/>
            </a:srgbClr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95544" y="475488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Loués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660136" y="5102352"/>
            <a:ext cx="621792" cy="99060"/>
          </a:xfrm>
          <a:prstGeom prst="rect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09560" y="1993392"/>
            <a:ext cx="502920" cy="310896"/>
          </a:xfrm>
          <a:prstGeom prst="roundRect">
            <a:avLst/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82712" y="2020824"/>
            <a:ext cx="356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95360" y="19842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Portefeuille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95360" y="2286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Biens, mandats, propriétaires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909560" y="2862072"/>
            <a:ext cx="502920" cy="310896"/>
          </a:xfrm>
          <a:prstGeom prst="roundRect">
            <a:avLst/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82712" y="2889504"/>
            <a:ext cx="356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595360" y="28529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595360" y="3154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Nouveau → contact → visite → loué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909560" y="3730752"/>
            <a:ext cx="502920" cy="310896"/>
          </a:xfrm>
          <a:prstGeom prst="roundRect">
            <a:avLst/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82712" y="3758184"/>
            <a:ext cx="356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95360" y="37216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Équipe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595360" y="4023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Attribution des leads aux agents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909560" y="4599432"/>
            <a:ext cx="502920" cy="310896"/>
          </a:xfrm>
          <a:prstGeom prst="roundRect">
            <a:avLst/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82712" y="4626864"/>
            <a:ext cx="356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595360" y="4590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595360" y="4892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Vues, favoris, contacts, conversion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6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· CONFIANCE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Afficher les preuves, pas une note opaque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441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confiance doit être décomposée en contrôles précis et compréhensibles.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10652760" cy="475488"/>
          </a:xfrm>
          <a:prstGeom prst="roundRect">
            <a:avLst>
              <a:gd name="adj" fmla="val 30769"/>
            </a:avLst>
          </a:prstGeom>
          <a:solidFill>
            <a:srgbClr val="FAFAF7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148840"/>
            <a:ext cx="100584" cy="100584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039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Téléphone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2039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20391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Authentification du compte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578608"/>
            <a:ext cx="10652760" cy="475488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2761488"/>
            <a:ext cx="100584" cy="100584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Vérifiée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2651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Pièce d’identité contrôlée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191256"/>
            <a:ext cx="10652760" cy="475488"/>
          </a:xfrm>
          <a:prstGeom prst="roundRect">
            <a:avLst>
              <a:gd name="adj" fmla="val 30769"/>
            </a:avLst>
          </a:prstGeom>
          <a:solidFill>
            <a:srgbClr val="FAFAF7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" y="3374136"/>
            <a:ext cx="100584" cy="100584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3264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Professionnel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3264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32644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RCCM / NINEA selon le profil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803904"/>
            <a:ext cx="10652760" cy="475488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" y="3986784"/>
            <a:ext cx="100584" cy="100584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0432" y="38770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Localisation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38770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Vérifiée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0" y="38770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 et adresse du bien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416552"/>
            <a:ext cx="10652760" cy="475488"/>
          </a:xfrm>
          <a:prstGeom prst="roundRect">
            <a:avLst>
              <a:gd name="adj" fmla="val 30769"/>
            </a:avLst>
          </a:prstGeom>
          <a:solidFill>
            <a:srgbClr val="FAFAF7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2688" y="4599432"/>
            <a:ext cx="100584" cy="100584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70432" y="4489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0" y="4489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Contrôlé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44897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présenté et examiné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5029200"/>
            <a:ext cx="10652760" cy="475488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2688" y="5212080"/>
            <a:ext cx="100584" cy="100584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70432" y="5102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Visite terrain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0" y="5102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Effectuée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0" y="51023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Contrôle physique daté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" y="5870448"/>
            <a:ext cx="10652760" cy="411480"/>
          </a:xfrm>
          <a:prstGeom prst="roundRect">
            <a:avLst>
              <a:gd name="adj" fmla="val 35556"/>
            </a:avLst>
          </a:prstGeom>
          <a:solidFill>
            <a:srgbClr val="F4EEDC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5934456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Principe juridique : “document contrôlé” ne signifie pas “propriété juridiquement garantie”.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6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· BUSINESS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B2C gratuit, B2B récurrent, services à la carte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441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prix ci-dessous sont des hypothèses de test, à valider avec des agences réelles.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2331720" cy="242316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468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CHERCHEUR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FCFA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3346704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914400" y="382219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Recherche · favoris · alertes · visites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20440" y="2148840"/>
            <a:ext cx="2331720" cy="242316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21608" y="2468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21608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15–20k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21608" y="3346704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FCFA / mois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3749040" y="382219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Petit portefeuille · leads de base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55080" y="2148840"/>
            <a:ext cx="2331720" cy="2423160"/>
          </a:xfrm>
          <a:prstGeom prst="roundRect">
            <a:avLst>
              <a:gd name="adj" fmla="val 6275"/>
            </a:avLst>
          </a:prstGeom>
          <a:solidFill>
            <a:srgbClr val="DDF1EA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2468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56248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35–50k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56248" y="3346704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FCFA / mois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6583680" y="382219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· stats · équipe légère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89720" y="2148840"/>
            <a:ext cx="2331720" cy="242316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0888" y="2468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90888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75–100k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90888" y="3346704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FCFA / mois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9418320" y="382219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Portefeuille large · équipe · analytics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13232" y="5029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Revenus additionnels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493776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Mise en avant · photos pro · vérification terrain · vidéo · accompagnement · leads premium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" y="565099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: ne jamais vendre la confiance. Le paiement achète de la visibilité ou un service, pas un badge de fiabilité.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6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· MVP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Lancer peu de fonctionnalités, mais les faire très bien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441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V1 doit prouver trois choses : inventaire frais, parcours de visite efficace et usage récurrent par les agences.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2926080" cy="3886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2788920"/>
            <a:ext cx="73152" cy="73152"/>
          </a:xfrm>
          <a:prstGeom prst="ellipse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70662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Inscription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05840" y="3118104"/>
            <a:ext cx="73152" cy="73152"/>
          </a:xfrm>
          <a:prstGeom prst="ellipse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03580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Recherche + filtres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05840" y="3447288"/>
            <a:ext cx="73152" cy="73152"/>
          </a:xfrm>
          <a:prstGeom prst="ellipse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36499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05840" y="3776472"/>
            <a:ext cx="73152" cy="73152"/>
          </a:xfrm>
          <a:prstGeom prst="ellipse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69417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Fiche du bien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05840" y="4105656"/>
            <a:ext cx="73152" cy="73152"/>
          </a:xfrm>
          <a:prstGeom prst="ellipse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0233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Passeport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05840" y="4434840"/>
            <a:ext cx="73152" cy="73152"/>
          </a:xfrm>
          <a:prstGeom prst="ellipse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35254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Favoris + alertes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05840" y="4764024"/>
            <a:ext cx="73152" cy="73152"/>
          </a:xfrm>
          <a:prstGeom prst="ellipse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46817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/ WhatsApp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05840" y="5093208"/>
            <a:ext cx="73152" cy="73152"/>
          </a:xfrm>
          <a:prstGeom prst="ellipse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501091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Réservation visite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069080" y="1965960"/>
            <a:ext cx="2926080" cy="3886200"/>
          </a:xfrm>
          <a:prstGeom prst="roundRect">
            <a:avLst>
              <a:gd name="adj" fmla="val 5000"/>
            </a:avLst>
          </a:prstGeom>
          <a:solidFill>
            <a:srgbClr val="DDF1EA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2286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PROPRIÉTAIRE / AGENCE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89120" y="2788920"/>
            <a:ext cx="73152" cy="73152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270662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 &amp; vérification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89120" y="3118104"/>
            <a:ext cx="73152" cy="73152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03580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Créer / modifier un bien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89120" y="3447288"/>
            <a:ext cx="73152" cy="73152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336499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Photos + vidéo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389120" y="3776472"/>
            <a:ext cx="73152" cy="73152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369417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89120" y="4105656"/>
            <a:ext cx="73152" cy="73152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40233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Disponibilité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389120" y="4434840"/>
            <a:ext cx="73152" cy="73152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435254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Demandes / leads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389120" y="4764024"/>
            <a:ext cx="73152" cy="73152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46817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visites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389120" y="5093208"/>
            <a:ext cx="73152" cy="73152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501091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Stats simples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452360" y="1965960"/>
            <a:ext cx="2926080" cy="3886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0960" y="2286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772400" y="2788920"/>
            <a:ext cx="73152" cy="73152"/>
          </a:xfrm>
          <a:prstGeom prst="ellipse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55280" y="270662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Utilisateurs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772400" y="3118104"/>
            <a:ext cx="73152" cy="73152"/>
          </a:xfrm>
          <a:prstGeom prst="ellipse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55280" y="303580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Agences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772400" y="3447288"/>
            <a:ext cx="73152" cy="73152"/>
          </a:xfrm>
          <a:prstGeom prst="ellipse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55280" y="336499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Biens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772400" y="3776472"/>
            <a:ext cx="73152" cy="73152"/>
          </a:xfrm>
          <a:prstGeom prst="ellipse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55280" y="369417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Modération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772400" y="4105656"/>
            <a:ext cx="73152" cy="73152"/>
          </a:xfrm>
          <a:prstGeom prst="ellipse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55280" y="40233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772400" y="4434840"/>
            <a:ext cx="73152" cy="73152"/>
          </a:xfrm>
          <a:prstGeom prst="ellipse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55280" y="435254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Signalements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772400" y="4764024"/>
            <a:ext cx="73152" cy="73152"/>
          </a:xfrm>
          <a:prstGeom prst="ellipse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55280" y="46817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Visites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772400" y="5093208"/>
            <a:ext cx="73152" cy="73152"/>
          </a:xfrm>
          <a:prstGeom prst="ellipse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55280" y="501091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de base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6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· SCOPE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qui doit attendre la V2 / V3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441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Refuser la sur-complexité du premier lancement est une décision produit, pas une limitation.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4572000" cy="333756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2395728"/>
            <a:ext cx="530352" cy="310896"/>
          </a:xfrm>
          <a:prstGeom prst="roundRect">
            <a:avLst/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7592" y="24231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98448" y="3127248"/>
            <a:ext cx="82296" cy="82296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17904" y="30266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Détection automatique des doublons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98448" y="3611880"/>
            <a:ext cx="82296" cy="82296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17904" y="35112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avancé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98448" y="4096512"/>
            <a:ext cx="82296" cy="82296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17904" y="3995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Comparaison de biens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98448" y="4581144"/>
            <a:ext cx="82296" cy="82296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17904" y="4480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Paiement abonnements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298448" y="5065776"/>
            <a:ext cx="82296" cy="82296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17904" y="4965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Vérification terrain structurée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2103120"/>
            <a:ext cx="4572000" cy="3337560"/>
          </a:xfrm>
          <a:prstGeom prst="roundRect">
            <a:avLst>
              <a:gd name="adj" fmla="val 4384"/>
            </a:avLst>
          </a:prstGeom>
          <a:solidFill>
            <a:srgbClr val="0D2B2E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2395728"/>
            <a:ext cx="530352" cy="310896"/>
          </a:xfrm>
          <a:prstGeom prst="roundRect">
            <a:avLst/>
          </a:prstGeom>
          <a:solidFill>
            <a:srgbClr val="1A4445"/>
          </a:solidFill>
          <a:ln w="12700">
            <a:solidFill>
              <a:srgbClr val="1A44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11112" y="24231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01968" y="3127248"/>
            <a:ext cx="82296" cy="82296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21424" y="30266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Vente immobilière avancée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01968" y="3611880"/>
            <a:ext cx="82296" cy="82296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21424" y="35112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Terrains &amp; foncier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01968" y="4096512"/>
            <a:ext cx="82296" cy="82296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21424" y="3995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Partenaires juridiques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01968" y="4581144"/>
            <a:ext cx="82296" cy="82296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21424" y="4480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Financement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01968" y="5065776"/>
            <a:ext cx="82296" cy="82296"/>
          </a:xfrm>
          <a:prstGeom prst="ellipse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21424" y="4965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 locative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578815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 au MVP : 3D obligatoire · IA d’estimation · paiements de caution · séquestre · blockchain · gestion locative complète.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6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· TECHNOLOGIE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architecture simple, scalable et géographique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441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produit a besoin d’une base solide pour le mobile, la carte, la recherche et le futur moteur de doublons.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841248" cy="310896"/>
          </a:xfrm>
          <a:prstGeom prst="roundRect">
            <a:avLst/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01952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8562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Flutter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185623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iOS + Android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441448"/>
            <a:ext cx="841248" cy="310896"/>
          </a:xfrm>
          <a:prstGeom prst="roundRect">
            <a:avLst/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46888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PRO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0" y="24231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/ React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42316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Agences + back-office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3008376"/>
            <a:ext cx="841248" cy="310896"/>
          </a:xfrm>
          <a:prstGeom prst="roundRect">
            <a:avLst/>
          </a:prstGeom>
          <a:solidFill>
            <a:srgbClr val="EDF0EC"/>
          </a:solidFill>
          <a:ln w="12700">
            <a:solidFill>
              <a:srgbClr val="EDF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035808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29900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Laravel ou NestJS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299008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logic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3575304"/>
            <a:ext cx="841248" cy="310896"/>
          </a:xfrm>
          <a:prstGeom prst="roundRect">
            <a:avLst/>
          </a:prstGeom>
          <a:solidFill>
            <a:srgbClr val="EDF0EC"/>
          </a:solidFill>
          <a:ln w="12700">
            <a:solidFill>
              <a:srgbClr val="EDF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602736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35570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+ PostGIS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355701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Biens + géospatial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" y="4142232"/>
            <a:ext cx="841248" cy="310896"/>
          </a:xfrm>
          <a:prstGeom prst="roundRect">
            <a:avLst/>
          </a:prstGeom>
          <a:solidFill>
            <a:srgbClr val="EDF0EC"/>
          </a:solidFill>
          <a:ln w="12700">
            <a:solidFill>
              <a:srgbClr val="EDF0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169664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0" y="41239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Meilisearch / OpenSearch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412394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Filtres + texte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" y="4709160"/>
            <a:ext cx="841248" cy="310896"/>
          </a:xfrm>
          <a:prstGeom prst="roundRect">
            <a:avLst/>
          </a:prstGeom>
          <a:solidFill>
            <a:srgbClr val="EDF0EC"/>
          </a:solidFill>
          <a:ln w="12700">
            <a:solidFill>
              <a:srgbClr val="EDF0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4736592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46908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63440" y="469087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31520" y="5276088"/>
            <a:ext cx="841248" cy="310896"/>
          </a:xfrm>
          <a:prstGeom prst="roundRect">
            <a:avLst/>
          </a:prstGeom>
          <a:solidFill>
            <a:srgbClr val="EDF0EC"/>
          </a:solidFill>
          <a:ln w="12700">
            <a:solidFill>
              <a:srgbClr val="EDF0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30352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0" y="5257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S3 compatible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63440" y="525780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Photos + vidéos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052560" y="1920240"/>
            <a:ext cx="2286000" cy="3657600"/>
          </a:xfrm>
          <a:prstGeom prst="roundRect">
            <a:avLst>
              <a:gd name="adj" fmla="val 6400"/>
            </a:avLst>
          </a:prstGeom>
          <a:solidFill>
            <a:srgbClr val="0D2B2E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72600" y="2240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372600" y="2788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2E0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ajouter après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2E0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bonnes données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372600" y="382219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9CC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Doublons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9CC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9CC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Normalisation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9CC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Prix indicatifs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6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· LANCEMENT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Commencer petit, mais dense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441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L’objectif n’est pas de couvrir le Sénégal : c’est de créer une zone où l’offre est suffisamment riche pour rendre l’application utile.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938528"/>
            <a:ext cx="1051560" cy="310896"/>
          </a:xfrm>
          <a:prstGeom prst="roundRect">
            <a:avLst/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65960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11680" y="19202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Dakar — location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0" y="19202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Yoff · Ouakam · Mamelles · Almadies · Ngor · Mermoz · Sacré-Cœur · VDN · Keur Gorgui · Liberté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1051560" cy="310896"/>
          </a:xfrm>
          <a:prstGeom prst="roundRect">
            <a:avLst/>
          </a:prstGeom>
          <a:solidFill>
            <a:srgbClr val="EDF0EC"/>
          </a:solidFill>
          <a:ln w="12700">
            <a:solidFill>
              <a:srgbClr val="EDF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907792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28620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Dakar élargi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0" y="2862072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Parcelles · Grand-Yoff · Pikine · Guédiawaye · Keur Massar · Rufisque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822192"/>
            <a:ext cx="1051560" cy="310896"/>
          </a:xfrm>
          <a:prstGeom prst="roundRect">
            <a:avLst/>
          </a:prstGeom>
          <a:solidFill>
            <a:srgbClr val="EDF0EC"/>
          </a:solidFill>
          <a:ln w="12700">
            <a:solidFill>
              <a:srgbClr val="EDF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849624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380390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Autres bassins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89120" y="3803904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Diamniadio · Saly · Ngaparou · Somone · Thiès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764024"/>
            <a:ext cx="1051560" cy="310896"/>
          </a:xfrm>
          <a:prstGeom prst="roundRect">
            <a:avLst/>
          </a:prstGeom>
          <a:solidFill>
            <a:srgbClr val="EDF0EC"/>
          </a:solidFill>
          <a:ln w="12700">
            <a:solidFill>
              <a:srgbClr val="EDF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791456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47457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National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389120" y="4745736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Vente · foncier · services avancés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5833872"/>
            <a:ext cx="10561320" cy="365760"/>
          </a:xfrm>
          <a:prstGeom prst="roundRect">
            <a:avLst>
              <a:gd name="adj" fmla="val 40000"/>
            </a:avLst>
          </a:prstGeom>
          <a:solidFill>
            <a:srgbClr val="DDF1EA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879592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initial : densité d’inventaire &gt; couverture géographique.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6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· GO-TO-MARKET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Lancer l’offre avant la demande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441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marketplace immobilière vide ne crée aucune valeur. La première campagne marketing doit commencer après constitution d’un inventaire actif.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315468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450592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41832" y="2999232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agences partenaires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0" y="2194560"/>
            <a:ext cx="3154680" cy="1417320"/>
          </a:xfrm>
          <a:prstGeom prst="roundRect">
            <a:avLst>
              <a:gd name="adj" fmla="val 10323"/>
            </a:avLst>
          </a:prstGeom>
          <a:solidFill>
            <a:srgbClr val="DDF1EA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2450592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500–1 000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645152" y="2999232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biens propres et actifs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83880" y="2194560"/>
            <a:ext cx="3154680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2450592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348472" y="2999232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quartiers prioritaires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1605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Ordre recommandé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4709160"/>
            <a:ext cx="393192" cy="310896"/>
          </a:xfrm>
          <a:prstGeom prst="roundRect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4736592"/>
            <a:ext cx="246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07592" y="4645152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Signer les premières agences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2971800" y="4709160"/>
            <a:ext cx="393192" cy="310896"/>
          </a:xfrm>
          <a:prstGeom prst="roundRect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44952" y="4736592"/>
            <a:ext cx="246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02152" y="4645152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Importer / nettoyer les biens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5166360" y="4709160"/>
            <a:ext cx="393192" cy="310896"/>
          </a:xfrm>
          <a:prstGeom prst="roundRect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9512" y="4736592"/>
            <a:ext cx="246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96712" y="4645152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Mettre en place la routine de disponibilité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7360920" y="4709160"/>
            <a:ext cx="393192" cy="310896"/>
          </a:xfrm>
          <a:prstGeom prst="roundRect">
            <a:avLst/>
          </a:prstGeom>
          <a:solidFill>
            <a:srgbClr val="0D2B2E"/>
          </a:solidFill>
          <a:ln w="12700">
            <a:solidFill>
              <a:srgbClr val="0D2B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34072" y="4736592"/>
            <a:ext cx="246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91272" y="4645152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Tester les visites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9555480" y="4709160"/>
            <a:ext cx="393192" cy="310896"/>
          </a:xfrm>
          <a:prstGeom prst="roundRect">
            <a:avLst/>
          </a:prstGeom>
          <a:solidFill>
            <a:srgbClr val="159A7D"/>
          </a:solidFill>
          <a:ln w="12700">
            <a:solidFill>
              <a:srgbClr val="159A7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28632" y="4736592"/>
            <a:ext cx="246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085832" y="4645152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Lancer l’acquisition grand public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6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 ·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progression en quatre étapes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441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phase doit valider une hypothèse avant d’ajouter de la complexité.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1143000" cy="310896"/>
          </a:xfrm>
          <a:prstGeom prst="roundRect">
            <a:avLst/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93392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0–2 mois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03120" y="19476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&amp; prototype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00600" y="194767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Entretiens agences · UX · Figma · architecture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1143000" cy="310896"/>
          </a:xfrm>
          <a:prstGeom prst="roundRect">
            <a:avLst/>
          </a:prstGeom>
          <a:solidFill>
            <a:srgbClr val="EDF0EC"/>
          </a:solidFill>
          <a:ln w="12700">
            <a:solidFill>
              <a:srgbClr val="EDF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907792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3–5 mois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28620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00600" y="286207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 · back-office · recherche · visites · disponibilité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143000" cy="310896"/>
          </a:xfrm>
          <a:prstGeom prst="roundRect">
            <a:avLst/>
          </a:prstGeom>
          <a:solidFill>
            <a:srgbClr val="EDF0EC"/>
          </a:solidFill>
          <a:ln w="12700">
            <a:solidFill>
              <a:srgbClr val="EDF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822192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6–8 mois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37764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Dakar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00600" y="377647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agences · inventaire · mesure conversion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4709160"/>
            <a:ext cx="1143000" cy="310896"/>
          </a:xfrm>
          <a:prstGeom prst="roundRect">
            <a:avLst/>
          </a:prstGeom>
          <a:solidFill>
            <a:srgbClr val="EDF0EC"/>
          </a:solidFill>
          <a:ln w="12700">
            <a:solidFill>
              <a:srgbClr val="EDF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736592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9–12 mois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03120" y="46908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&amp; V2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00600" y="469087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avancé · doublons · paiements · expansion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587044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vitesse réelle dépendra de l’équipe, du niveau d’intégration KYC / paiement et de la qualité du back-office.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6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· INDICATEURS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métriques qui diront si le concept fonctionne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441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pas se laisser distraire par le nombre brut d’annonces ou de téléchargements.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3337560" cy="1234440"/>
          </a:xfrm>
          <a:prstGeom prst="roundRect">
            <a:avLst>
              <a:gd name="adj" fmla="val 11852"/>
            </a:avLst>
          </a:prstGeom>
          <a:solidFill>
            <a:srgbClr val="DDF1EA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2860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FRAÎCHEUR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" y="26517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de biens confirmés &lt; 48 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2057400"/>
            <a:ext cx="3337560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22860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QUALITÉ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90288" y="26517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de fiches complètes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92440" y="2057400"/>
            <a:ext cx="3337560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93608" y="22860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93608" y="26517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Recherche → contact → visite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3630168"/>
            <a:ext cx="3337560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8587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6968" y="422452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Biens actifs par quartier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89120" y="3630168"/>
            <a:ext cx="3337560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288" y="38587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B2B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90288" y="422452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Agences actives chaque semaine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92440" y="3630168"/>
            <a:ext cx="3337560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93608" y="38587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RÉTENTION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93608" y="422452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Renouvellement des abonnements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" y="5440680"/>
            <a:ext cx="10744200" cy="457200"/>
          </a:xfrm>
          <a:prstGeom prst="roundRect">
            <a:avLst>
              <a:gd name="adj" fmla="val 32000"/>
            </a:avLst>
          </a:prstGeom>
          <a:solidFill>
            <a:srgbClr val="0D2B2E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55229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 Star proposée : nombre de visites confirmées sur des biens encore réellement disponibles.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6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· MARQUE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Territoire : confiance, simplicité, accès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441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nom doit être court, mémorisable et extensible au-delà du Sénégal — sans tomber dans un énième “Keur/Kër + Immo”.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2651760" cy="310896"/>
          </a:xfrm>
          <a:prstGeom prst="roundRect">
            <a:avLst/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130552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0" y="2103120"/>
            <a:ext cx="26517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2272" y="2130552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955280" y="2103120"/>
            <a:ext cx="26517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28432" y="2130552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ACCÈS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3017520"/>
            <a:ext cx="26517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044952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3017520"/>
            <a:ext cx="26517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2272" y="3044952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CLARTÉ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55280" y="3017520"/>
            <a:ext cx="26517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28432" y="3044952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MOUVEMENT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97280" y="4343400"/>
            <a:ext cx="10012680" cy="1188720"/>
          </a:xfrm>
          <a:prstGeom prst="roundRect">
            <a:avLst>
              <a:gd name="adj" fmla="val 12308"/>
            </a:avLst>
          </a:prstGeom>
          <a:solidFill>
            <a:srgbClr val="0D2B2E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4617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Signature recommandée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54680" y="450799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Trouvez. Vérifiez. Visitez.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6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· 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que nous construisons réellement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13441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couche de confiance et d’opérations pour l’immobilier, pas simplement une vitrine d’annonces.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2240280"/>
            <a:ext cx="196596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5420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58952" y="3017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Acquérir la demande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2240280"/>
            <a:ext cx="1965960" cy="1508760"/>
          </a:xfrm>
          <a:prstGeom prst="roundRect">
            <a:avLst>
              <a:gd name="adj" fmla="val 9697"/>
            </a:avLst>
          </a:prstGeom>
          <a:solidFill>
            <a:srgbClr val="DDF1EA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25420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9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PASSEPORT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44952" y="3017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Structurer la donnée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66360" y="2240280"/>
            <a:ext cx="196596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25420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30952" y="3017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Réduire le risque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52360" y="2240280"/>
            <a:ext cx="196596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25420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16952" y="3017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Créer la conversion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738360" y="2240280"/>
            <a:ext cx="196596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0" y="25420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SAAS B2B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902952" y="3017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Créer le revenu récurrent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0120" y="4343400"/>
            <a:ext cx="10241280" cy="1005840"/>
          </a:xfrm>
          <a:prstGeom prst="roundRect">
            <a:avLst>
              <a:gd name="adj" fmla="val 14545"/>
            </a:avLst>
          </a:prstGeom>
          <a:solidFill>
            <a:srgbClr val="0D2B2E"/>
          </a:solidFill>
          <a:ln w="10160">
            <a:solidFill>
              <a:srgbClr val="D8D5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4590288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Objectif : devenir l’infrastructure numérique de confiance de l’immobilier sénégalais.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4400" y="577900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F7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Prochaine étape : naming → architecture des écrans → prototype Figma → cahier des charges développeur.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3200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F767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Odace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Immobilier Sénégal — Concept produit &amp; stratégie</dc:title>
  <dc:subject>Concept complet plateforme immobilière Sénégal</dc:subject>
  <dc:creator>OpenAI</dc:creator>
  <cp:lastModifiedBy>OpenAI</cp:lastModifiedBy>
  <cp:revision>1</cp:revision>
  <dcterms:created xsi:type="dcterms:W3CDTF">2026-09-18T02:35:59Z</dcterms:created>
  <dcterms:modified xsi:type="dcterms:W3CDTF">2026-09-18T02:35:59Z</dcterms:modified>
</cp:coreProperties>
</file>